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ublic Sans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  <p:embeddedFont>
      <p:font typeface="Public Sans Light"/>
      <p:regular r:id="rId28"/>
      <p:bold r:id="rId29"/>
      <p:italic r:id="rId30"/>
      <p:boldItalic r:id="rId31"/>
    </p:embeddedFont>
    <p:embeddedFont>
      <p:font typeface="Public Sans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3E98CE-66AE-4C59-BAD4-048B4EA5381E}">
  <a:tblStyle styleId="{DD3E98CE-66AE-4C59-BAD4-048B4EA5381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ublicSans-regular.fntdata"/><Relationship Id="rId22" Type="http://schemas.openxmlformats.org/officeDocument/2006/relationships/font" Target="fonts/PublicSans-italic.fntdata"/><Relationship Id="rId21" Type="http://schemas.openxmlformats.org/officeDocument/2006/relationships/font" Target="fonts/PublicSans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Public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8" Type="http://schemas.openxmlformats.org/officeDocument/2006/relationships/font" Target="fonts/PublicSansLight-regular.fntdata"/><Relationship Id="rId27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ublicSans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ublicSansLight-boldItalic.fntdata"/><Relationship Id="rId30" Type="http://schemas.openxmlformats.org/officeDocument/2006/relationships/font" Target="fonts/PublicSansLight-italic.fntdata"/><Relationship Id="rId11" Type="http://schemas.openxmlformats.org/officeDocument/2006/relationships/slide" Target="slides/slide5.xml"/><Relationship Id="rId33" Type="http://schemas.openxmlformats.org/officeDocument/2006/relationships/font" Target="fonts/PublicSansSemiBold-bold.fntdata"/><Relationship Id="rId10" Type="http://schemas.openxmlformats.org/officeDocument/2006/relationships/slide" Target="slides/slide4.xml"/><Relationship Id="rId32" Type="http://schemas.openxmlformats.org/officeDocument/2006/relationships/font" Target="fonts/PublicSans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PublicSans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PublicSansSemiBold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" name="Google Shape;85;p13"/>
          <p:cNvSpPr txBox="1"/>
          <p:nvPr/>
        </p:nvSpPr>
        <p:spPr>
          <a:xfrm>
            <a:off x="3670696" y="1504057"/>
            <a:ext cx="4850606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Online Store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3786187" y="2656582"/>
            <a:ext cx="4619625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638550" y="3304282"/>
            <a:ext cx="491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4748B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Database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638550" y="4363342"/>
            <a:ext cx="491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rPr>
              <a:t>By: Aliia | SE Final Project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638550" y="4858642"/>
            <a:ext cx="491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ublic Sans"/>
                <a:ea typeface="Public Sans"/>
                <a:cs typeface="Public Sans"/>
                <a:sym typeface="Public Sans"/>
              </a:rPr>
              <a:t>github.com/Aliiaaaa/Database-final-project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193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22098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Why a Relational Database is needed: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2882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52500" y="28003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Efficiency: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Moving from messy Excel to structured SQL.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355282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Data Safety: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Protecting customer info and money.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40005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Growth: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Ready to handle thousands of orders easily.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384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909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386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&amp; Motivation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571500"/>
            <a:ext cx="52006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Architecture: Part 1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1162050"/>
            <a:ext cx="4953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1752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Main entities in my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schema.sql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: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52500" y="24384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Users: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Storing customer profiles.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52500" y="288607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Addresses: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1:N link to Users for flexible shipping.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33337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Categories: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Organizing products for better search.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378142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Products: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The core stock items.</a:t>
            </a:r>
            <a:endParaRPr/>
          </a:p>
        </p:txBody>
      </p:sp>
      <p:pic>
        <p:nvPicPr>
          <p:cNvPr id="118" name="Google Shape;118;p15" title="ERD1.png"/>
          <p:cNvPicPr preferRelativeResize="0"/>
          <p:nvPr/>
        </p:nvPicPr>
        <p:blipFill rotWithShape="1">
          <a:blip r:embed="rId4">
            <a:alphaModFix/>
          </a:blip>
          <a:srcRect b="0" l="16279" r="16286" t="0"/>
          <a:stretch/>
        </p:blipFill>
        <p:spPr>
          <a:xfrm>
            <a:off x="6096000" y="0"/>
            <a:ext cx="6095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571500"/>
            <a:ext cx="52006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Architecture: Part 2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1162050"/>
            <a:ext cx="4953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1752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Linking the Business Logic: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52500" y="24384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Orders: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Tracking the buying process.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52500" y="288607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Order_Items: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Many-to-Many junction table.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52500" y="333375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Payments &amp; Deliveries: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Logistics and finance tracking.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52500" y="408622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Reviews: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Customer feedback system.</a:t>
            </a:r>
            <a:endParaRPr/>
          </a:p>
        </p:txBody>
      </p:sp>
      <p:pic>
        <p:nvPicPr>
          <p:cNvPr id="131" name="Google Shape;131;p16" title="ERD2.png"/>
          <p:cNvPicPr preferRelativeResize="0"/>
          <p:nvPr/>
        </p:nvPicPr>
        <p:blipFill rotWithShape="1">
          <a:blip r:embed="rId4">
            <a:alphaModFix/>
          </a:blip>
          <a:srcRect b="-9059" l="-26295" r="-4852" t="-25948"/>
          <a:stretch/>
        </p:blipFill>
        <p:spPr>
          <a:xfrm>
            <a:off x="2672425" y="0"/>
            <a:ext cx="11597975" cy="661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2225"/>
            <a:ext cx="35559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562225"/>
            <a:ext cx="35559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562225"/>
            <a:ext cx="3555950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857250" y="3486150"/>
            <a:ext cx="313367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Third Normal Form (3NF)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57250" y="3895725"/>
            <a:ext cx="2984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I split data into specific tables to stop redundancy. No repeating data!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603700" y="3486150"/>
            <a:ext cx="313367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Atomic Data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4603700" y="3895725"/>
            <a:ext cx="2984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Addresses are split into Street, City, and Country for filtering.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350150" y="3486150"/>
            <a:ext cx="313367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Integrity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350150" y="3895725"/>
            <a:ext cx="2984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Used Foreign Keys to make sure all tables are correctly connected.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9241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03700" y="29241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0150" y="29241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Technical Decision: Normalization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193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22098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Rules I added in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schema.sql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:</a:t>
            </a:r>
            <a:endParaRPr/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28825"/>
            <a:ext cx="27908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952500" y="27051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CHECK (price &gt; 0):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Products cannot be free.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52500" y="315277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UNIQUE (email):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No duplicate accounts allowed.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952500" y="36004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ON DELETE CASCADE: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Deleting an order cleans up its items automatically.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Data Safety &amp; Rules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571500" y="3105150"/>
            <a:ext cx="528637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E3A8A"/>
                </a:solidFill>
                <a:latin typeface="Public Sans"/>
                <a:ea typeface="Public Sans"/>
                <a:cs typeface="Public Sans"/>
                <a:sym typeface="Public Sans"/>
              </a:rPr>
              <a:t>90%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424815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Faster Search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334125" y="291465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Indexing Decisions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334125" y="3324225"/>
            <a:ext cx="52863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I created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B-Tree Indexes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on product_name and email columns.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334125" y="41338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This allows the Online Store to search through millions of rows in milliseconds.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Query Performance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62100"/>
            <a:ext cx="110490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71500" y="26193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Example result from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queries.sql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: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49244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"Used JOIN and SUM to calculate revenue per category."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Demo: Revenue Analytics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571500" y="25765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Results from joining Orders, Users, and Deliveries:</a:t>
            </a:r>
            <a:endParaRPr/>
          </a:p>
        </p:txBody>
      </p:sp>
      <p:graphicFrame>
        <p:nvGraphicFramePr>
          <p:cNvPr id="192" name="Google Shape;192;p21"/>
          <p:cNvGraphicFramePr/>
          <p:nvPr/>
        </p:nvGraphicFramePr>
        <p:xfrm>
          <a:off x="571500" y="30718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{DD3E98CE-66AE-4C59-BAD4-048B4EA5381E}</a:tableStyleId>
              </a:tblPr>
              <a:tblGrid>
                <a:gridCol w="1926125"/>
                <a:gridCol w="3531250"/>
                <a:gridCol w="2834275"/>
                <a:gridCol w="2757350"/>
              </a:tblGrid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Order #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Customer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Tracking #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#1001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Aliya 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6A34A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● Shipped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TRK-9001-B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#1002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Bektur M.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A8A04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● Processing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TRK-9002-X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#1003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John Doe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C2626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● Pending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3" name="Google Shape;193;p21"/>
          <p:cNvSpPr/>
          <p:nvPr/>
        </p:nvSpPr>
        <p:spPr>
          <a:xfrm>
            <a:off x="571500" y="4248150"/>
            <a:ext cx="19261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2497633" y="4248150"/>
            <a:ext cx="35312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6028878" y="4248150"/>
            <a:ext cx="28342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8863161" y="4248150"/>
            <a:ext cx="27573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571500" y="4848225"/>
            <a:ext cx="19261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2497633" y="4848225"/>
            <a:ext cx="35312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6028878" y="4848225"/>
            <a:ext cx="28342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8863161" y="4848225"/>
            <a:ext cx="27573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71500" y="5448300"/>
            <a:ext cx="19261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2497633" y="5448300"/>
            <a:ext cx="35312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6028878" y="5448300"/>
            <a:ext cx="28342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8863161" y="5448300"/>
            <a:ext cx="27573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Demo: Logistics Monitoring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09900"/>
            <a:ext cx="5286375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009900"/>
            <a:ext cx="5286375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57250" y="3343275"/>
            <a:ext cx="49506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Technical Summary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857250" y="375285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7 Tables, normalized and indexed for high-performance e-commerce operations.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619875" y="3343275"/>
            <a:ext cx="49506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Scalability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619875" y="375285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The design is ready to be connected to any Web API (Node.js, Python, etc.).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Summary of Solution</a:t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952500" y="3252787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API Development: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Connecting SQL to a React frontend.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952500" y="370046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Cloud Migration: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Moving to AWS RDS for 24/7 uptime.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952500" y="4148137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Admin Dashboard: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Visualizing sales with Appsmith/PowerBI.</a:t>
            </a:r>
            <a:endParaRPr/>
          </a:p>
        </p:txBody>
      </p:sp>
      <p:pic>
        <p:nvPicPr>
          <p:cNvPr descr="image.png" id="228" name="Google Shape;22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908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385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86237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Roadmap</a:t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3385661" y="1755427"/>
            <a:ext cx="5420677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3514725" y="3174652"/>
            <a:ext cx="51625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Public Sans"/>
                <a:ea typeface="Public Sans"/>
                <a:cs typeface="Public Sans"/>
                <a:sym typeface="Public Sans"/>
              </a:rPr>
              <a:t>Thank you for your attention!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3514725" y="4111823"/>
            <a:ext cx="5162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Aliia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3514725" y="4607123"/>
            <a:ext cx="5162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Database Final Project | AUCA 2024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/>
          <p:nvPr/>
        </p:nvSpPr>
        <p:spPr>
          <a:xfrm>
            <a:off x="571500" y="275183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71500" y="353660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71500" y="35270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71500" y="35270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71500" y="43118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71500" y="43118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3" name="Google Shape;25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012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1666875" y="289470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https://www.smartdatacollective.com/wp-content/uploads/2022/08/shutterstock_683543497-860x574.jpg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1666875" y="314042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ublic Sans"/>
                <a:ea typeface="Public Sans"/>
                <a:cs typeface="Public Sans"/>
                <a:sym typeface="Public Sans"/>
              </a:rPr>
              <a:t>www.smartdatacollective.com</a:t>
            </a:r>
            <a:endParaRPr/>
          </a:p>
        </p:txBody>
      </p:sp>
      <p:pic>
        <p:nvPicPr>
          <p:cNvPr descr="image.png" id="256" name="Google Shape;25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860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1666875" y="367947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https://media.geeksforgeeks.org/wp-content/uploads/20240224221627/E-commerceER.webp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1666875" y="3925192"/>
            <a:ext cx="9953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ublic Sans"/>
                <a:ea typeface="Public Sans"/>
                <a:cs typeface="Public Sans"/>
                <a:sym typeface="Public Sans"/>
              </a:rPr>
              <a:t>www.geeksforgeeks.org</a:t>
            </a:r>
            <a:endParaRPr/>
          </a:p>
        </p:txBody>
      </p:sp>
      <p:pic>
        <p:nvPicPr>
          <p:cNvPr descr="image.png" id="259" name="Google Shape;25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707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1666875" y="446424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https://cdn.corporatefinanceinstitute.com/assets/data-integrity-1024x708.png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1666875" y="470996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ublic Sans"/>
                <a:ea typeface="Public Sans"/>
                <a:cs typeface="Public Sans"/>
                <a:sym typeface="Public Sans"/>
              </a:rPr>
              <a:t>corporatefinanceinstitute.com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63" name="Google Shape;263;p25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